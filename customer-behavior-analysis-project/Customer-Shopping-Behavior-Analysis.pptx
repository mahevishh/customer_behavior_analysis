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Poppins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  <p:embeddedFont>
      <p:font typeface="Roboto Ligh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Uncovering insights from 3,900 purchases to guide strategic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46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13541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61354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870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Goal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361253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Analyze spending, segments, preferences, and subscription behavior.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613541"/>
            <a:ext cx="3664863" cy="2093714"/>
          </a:xfrm>
          <a:prstGeom prst="roundRect">
            <a:avLst>
              <a:gd name="adj" fmla="val 6988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1268" y="261354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10520482" y="2870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20482" y="3361253"/>
            <a:ext cx="30588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Transactional data from 3,900 purchases.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4934069"/>
            <a:ext cx="3664744" cy="1730812"/>
          </a:xfrm>
          <a:prstGeom prst="roundRect">
            <a:avLst>
              <a:gd name="adj" fmla="val 845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493406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191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Outcome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5681782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Actionable insights for business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882" y="454819"/>
            <a:ext cx="4135279" cy="51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Summary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78882" y="1385054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8882" y="1808917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 demographics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8882" y="2131338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Purchase details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8882" y="2453759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Shopping behavior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8882" y="2883694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882" y="3307556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3,900 Rows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8882" y="3629978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 Columns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512" y="1405652"/>
            <a:ext cx="6534626" cy="65346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24512" y="8126254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Missing Data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24512" y="8550116"/>
            <a:ext cx="6534626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37 values in Review Rating column.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9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749" y="519946"/>
            <a:ext cx="7820501" cy="1181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Exploratory Data Analysis (Python)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749" y="1985129"/>
            <a:ext cx="18907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749" y="2283619"/>
            <a:ext cx="782050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661749" y="2423874"/>
            <a:ext cx="236339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Preparation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749" y="2832616"/>
            <a:ext cx="78205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Loading, initial exploration, missing data handling.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749" y="3465909"/>
            <a:ext cx="18907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749" y="3764399"/>
            <a:ext cx="782050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661749" y="3904655"/>
            <a:ext cx="2842260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Column Standardization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1749" y="4313396"/>
            <a:ext cx="78205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Renamed to snake case for readability.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749" y="4946690"/>
            <a:ext cx="18907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749" y="5245179"/>
            <a:ext cx="782050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661749" y="5385435"/>
            <a:ext cx="236339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61749" y="5794177"/>
            <a:ext cx="78205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Created age groups, purchase frequency.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749" y="6427470"/>
            <a:ext cx="18907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61749" y="6725960"/>
            <a:ext cx="782050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661749" y="6866215"/>
            <a:ext cx="249924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 Integration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61749" y="7274957"/>
            <a:ext cx="782050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Loaded cleaned data to PostgreSQL for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8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860" y="465058"/>
            <a:ext cx="4228267" cy="52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Analysis (SQL)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91860" y="1500664"/>
            <a:ext cx="7960281" cy="1251109"/>
          </a:xfrm>
          <a:prstGeom prst="roundRect">
            <a:avLst>
              <a:gd name="adj" fmla="val 8770"/>
            </a:avLst>
          </a:prstGeom>
          <a:solidFill>
            <a:srgbClr val="050505"/>
          </a:solidFill>
          <a:ln/>
        </p:spPr>
      </p:sp>
      <p:sp>
        <p:nvSpPr>
          <p:cNvPr id="5" name="Shape 2"/>
          <p:cNvSpPr/>
          <p:nvPr/>
        </p:nvSpPr>
        <p:spPr>
          <a:xfrm>
            <a:off x="591860" y="1477804"/>
            <a:ext cx="7960281" cy="91440"/>
          </a:xfrm>
          <a:prstGeom prst="roundRect">
            <a:avLst>
              <a:gd name="adj" fmla="val 77687"/>
            </a:avLst>
          </a:prstGeom>
          <a:solidFill>
            <a:srgbClr val="F2F2F3"/>
          </a:solidFill>
          <a:ln/>
        </p:spPr>
      </p:sp>
      <p:sp>
        <p:nvSpPr>
          <p:cNvPr id="6" name="Shape 3"/>
          <p:cNvSpPr/>
          <p:nvPr/>
        </p:nvSpPr>
        <p:spPr>
          <a:xfrm>
            <a:off x="4318337" y="1247061"/>
            <a:ext cx="507325" cy="507325"/>
          </a:xfrm>
          <a:prstGeom prst="roundRect">
            <a:avLst>
              <a:gd name="adj" fmla="val 180239"/>
            </a:avLst>
          </a:prstGeom>
          <a:solidFill>
            <a:srgbClr val="F2F2F3"/>
          </a:solidFill>
          <a:ln/>
        </p:spPr>
      </p:sp>
      <p:sp>
        <p:nvSpPr>
          <p:cNvPr id="7" name="Text 4"/>
          <p:cNvSpPr/>
          <p:nvPr/>
        </p:nvSpPr>
        <p:spPr>
          <a:xfrm>
            <a:off x="4470499" y="1373862"/>
            <a:ext cx="20288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83788" y="1923455"/>
            <a:ext cx="21140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Gender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83788" y="2289215"/>
            <a:ext cx="757642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Female: $75,191, Male: $157,890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1860" y="3174444"/>
            <a:ext cx="7960281" cy="1251109"/>
          </a:xfrm>
          <a:prstGeom prst="roundRect">
            <a:avLst>
              <a:gd name="adj" fmla="val 8770"/>
            </a:avLst>
          </a:prstGeom>
          <a:solidFill>
            <a:srgbClr val="050505"/>
          </a:solidFill>
          <a:ln/>
        </p:spPr>
      </p:sp>
      <p:sp>
        <p:nvSpPr>
          <p:cNvPr id="11" name="Shape 8"/>
          <p:cNvSpPr/>
          <p:nvPr/>
        </p:nvSpPr>
        <p:spPr>
          <a:xfrm>
            <a:off x="591860" y="3151584"/>
            <a:ext cx="7960281" cy="91440"/>
          </a:xfrm>
          <a:prstGeom prst="roundRect">
            <a:avLst>
              <a:gd name="adj" fmla="val 77687"/>
            </a:avLst>
          </a:prstGeom>
          <a:solidFill>
            <a:srgbClr val="F2F2F3"/>
          </a:solidFill>
          <a:ln/>
        </p:spPr>
      </p:sp>
      <p:sp>
        <p:nvSpPr>
          <p:cNvPr id="12" name="Shape 9"/>
          <p:cNvSpPr/>
          <p:nvPr/>
        </p:nvSpPr>
        <p:spPr>
          <a:xfrm>
            <a:off x="4318337" y="2920841"/>
            <a:ext cx="507325" cy="507325"/>
          </a:xfrm>
          <a:prstGeom prst="roundRect">
            <a:avLst>
              <a:gd name="adj" fmla="val 180239"/>
            </a:avLst>
          </a:prstGeom>
          <a:solidFill>
            <a:srgbClr val="F2F2F3"/>
          </a:solidFill>
          <a:ln/>
        </p:spPr>
      </p:sp>
      <p:sp>
        <p:nvSpPr>
          <p:cNvPr id="13" name="Text 10"/>
          <p:cNvSpPr/>
          <p:nvPr/>
        </p:nvSpPr>
        <p:spPr>
          <a:xfrm>
            <a:off x="4470499" y="3047643"/>
            <a:ext cx="20288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83788" y="3597235"/>
            <a:ext cx="316670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High-Spending Discount Users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83788" y="3962995"/>
            <a:ext cx="757642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Identified 839 customers.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1860" y="4848225"/>
            <a:ext cx="7960281" cy="1251109"/>
          </a:xfrm>
          <a:prstGeom prst="roundRect">
            <a:avLst>
              <a:gd name="adj" fmla="val 8770"/>
            </a:avLst>
          </a:prstGeom>
          <a:solidFill>
            <a:srgbClr val="050505"/>
          </a:solidFill>
          <a:ln/>
        </p:spPr>
      </p:sp>
      <p:sp>
        <p:nvSpPr>
          <p:cNvPr id="17" name="Shape 14"/>
          <p:cNvSpPr/>
          <p:nvPr/>
        </p:nvSpPr>
        <p:spPr>
          <a:xfrm>
            <a:off x="591860" y="4825365"/>
            <a:ext cx="7960281" cy="91440"/>
          </a:xfrm>
          <a:prstGeom prst="roundRect">
            <a:avLst>
              <a:gd name="adj" fmla="val 77687"/>
            </a:avLst>
          </a:prstGeom>
          <a:solidFill>
            <a:srgbClr val="F2F2F3"/>
          </a:solidFill>
          <a:ln/>
        </p:spPr>
      </p:sp>
      <p:sp>
        <p:nvSpPr>
          <p:cNvPr id="18" name="Shape 15"/>
          <p:cNvSpPr/>
          <p:nvPr/>
        </p:nvSpPr>
        <p:spPr>
          <a:xfrm>
            <a:off x="4318337" y="4594622"/>
            <a:ext cx="507325" cy="507325"/>
          </a:xfrm>
          <a:prstGeom prst="roundRect">
            <a:avLst>
              <a:gd name="adj" fmla="val 180239"/>
            </a:avLst>
          </a:prstGeom>
          <a:solidFill>
            <a:srgbClr val="F2F2F3"/>
          </a:solidFill>
          <a:ln/>
        </p:spPr>
      </p:sp>
      <p:sp>
        <p:nvSpPr>
          <p:cNvPr id="19" name="Text 16"/>
          <p:cNvSpPr/>
          <p:nvPr/>
        </p:nvSpPr>
        <p:spPr>
          <a:xfrm>
            <a:off x="4470499" y="4721423"/>
            <a:ext cx="20288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83788" y="5271016"/>
            <a:ext cx="259520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5 Products by Rating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83788" y="5636776"/>
            <a:ext cx="757642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Gloves, Sandals, Boots, Hat, Skirt.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1860" y="6522006"/>
            <a:ext cx="7960281" cy="1251109"/>
          </a:xfrm>
          <a:prstGeom prst="roundRect">
            <a:avLst>
              <a:gd name="adj" fmla="val 8770"/>
            </a:avLst>
          </a:prstGeom>
          <a:solidFill>
            <a:srgbClr val="050505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860" y="6499146"/>
            <a:ext cx="7960281" cy="91440"/>
          </a:xfrm>
          <a:prstGeom prst="roundRect">
            <a:avLst>
              <a:gd name="adj" fmla="val 77687"/>
            </a:avLst>
          </a:prstGeom>
          <a:solidFill>
            <a:srgbClr val="F2F2F3"/>
          </a:solidFill>
          <a:ln/>
        </p:spPr>
      </p:sp>
      <p:sp>
        <p:nvSpPr>
          <p:cNvPr id="24" name="Shape 21"/>
          <p:cNvSpPr/>
          <p:nvPr/>
        </p:nvSpPr>
        <p:spPr>
          <a:xfrm>
            <a:off x="4318337" y="6268403"/>
            <a:ext cx="507325" cy="507325"/>
          </a:xfrm>
          <a:prstGeom prst="roundRect">
            <a:avLst>
              <a:gd name="adj" fmla="val 180239"/>
            </a:avLst>
          </a:prstGeom>
          <a:solidFill>
            <a:srgbClr val="F2F2F3"/>
          </a:solidFill>
          <a:ln/>
        </p:spPr>
      </p:sp>
      <p:sp>
        <p:nvSpPr>
          <p:cNvPr id="25" name="Text 22"/>
          <p:cNvSpPr/>
          <p:nvPr/>
        </p:nvSpPr>
        <p:spPr>
          <a:xfrm>
            <a:off x="4470499" y="6395204"/>
            <a:ext cx="20288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83788" y="6944797"/>
            <a:ext cx="283023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Shipping Type Comparison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83788" y="7310557"/>
            <a:ext cx="757642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Standard: $58.46, Express: $60.48.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48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Subscription &amp; Discount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0939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64486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Subscribers: 1053, Avg Spend: $59.49, Total Revenue: $62,645.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5747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Non-Subscribers: 2847, Avg Spend: $59.87, Total Revenue: $170,436.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70939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4644866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Hat (50%), Sneakers (49.66%), Coat (49.07%), Sweater (48.17%), Pants (47.37%).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93225"/>
            <a:ext cx="69336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Segmentation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9421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51765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2F2F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536364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60838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65742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3116 Customers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9421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51396" y="51765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2F2F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536364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51396" y="60838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New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51396" y="65742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942165"/>
            <a:ext cx="4196358" cy="2229445"/>
          </a:xfrm>
          <a:prstGeom prst="roundRect">
            <a:avLst>
              <a:gd name="adj" fmla="val 42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874568" y="51765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2F2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61734" y="5363647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4568" y="60838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74568" y="6574274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701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74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Performance &amp; Age Group Revenue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9197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Products per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2744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Accessories: Jewelry, Sunglasses, Belt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325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Clothing: Blouse, Pants, Shirt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7474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Footwear: Sandals, Shoes, Sneakers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37984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Outerwear: Jacket, Coat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391972"/>
            <a:ext cx="3216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97311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Young Adult: $62,143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41531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Middle-aged: $59,197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8575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Adult: $55,978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29971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Senior: $55,763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76" y="355640"/>
            <a:ext cx="3233380" cy="404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Power BI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2676" y="1018461"/>
            <a:ext cx="13725049" cy="206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Interactive visualizations for key insights.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76" y="1370767"/>
            <a:ext cx="7433429" cy="40238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0832" y="6380678"/>
            <a:ext cx="159079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3.9K</a:t>
            </a:r>
            <a:endParaRPr lang="en-US" sz="2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86" y="5572363"/>
            <a:ext cx="1940004" cy="19400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77973" y="7673935"/>
            <a:ext cx="161663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519624" y="6380678"/>
            <a:ext cx="159079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$59.76</a:t>
            </a:r>
            <a:endParaRPr lang="en-US" sz="2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79" y="5572363"/>
            <a:ext cx="1940004" cy="19400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766" y="7673935"/>
            <a:ext cx="161663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Avg. Purchase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11148536" y="6380678"/>
            <a:ext cx="159079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3.75</a:t>
            </a:r>
            <a:endParaRPr lang="en-US" sz="2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3991" y="5572363"/>
            <a:ext cx="1940004" cy="19400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135678" y="7673935"/>
            <a:ext cx="161663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Avg. Review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879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613541"/>
            <a:ext cx="340162" cy="340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0906" y="2606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530906" y="30969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Promote exclusive benefits.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3920490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Loyalty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5309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Reward repeat buyers.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800" y="5227439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5220414"/>
            <a:ext cx="3149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530906" y="57108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Balance sales with margin.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8800" y="6534388"/>
            <a:ext cx="340162" cy="340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30906" y="6527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530906" y="701778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 on high-revenue groups.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2026-01-03T10:27:51Z</dcterms:created>
  <dcterms:modified xsi:type="dcterms:W3CDTF">2026-01-03T10:27:51Z</dcterms:modified>
</cp:coreProperties>
</file>